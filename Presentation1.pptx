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1915924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3604760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179865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065F61-4230-4B14-8CCD-2D8B9B6503CD}"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800382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065F61-4230-4B14-8CCD-2D8B9B6503CD}"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3762033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065F61-4230-4B14-8CCD-2D8B9B6503CD}"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9487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065F61-4230-4B14-8CCD-2D8B9B6503CD}"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98066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065F61-4230-4B14-8CCD-2D8B9B6503CD}"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95183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065F61-4230-4B14-8CCD-2D8B9B6503CD}"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95137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065F61-4230-4B14-8CCD-2D8B9B6503CD}"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59089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26624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4007387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3654013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065F61-4230-4B14-8CCD-2D8B9B6503CD}"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329886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065F61-4230-4B14-8CCD-2D8B9B6503CD}" type="datetimeFigureOut">
              <a:rPr lang="en-US" smtClean="0"/>
              <a:t>4/26/2026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363396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306097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9065F61-4230-4B14-8CCD-2D8B9B6503CD}"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05DDCC8-BA4F-439E-A7B3-BFDC9656643F}" type="slidenum">
              <a:rPr lang="en-US" smtClean="0"/>
              <a:t>‹#›</a:t>
            </a:fld>
            <a:endParaRPr lang="en-US"/>
          </a:p>
        </p:txBody>
      </p:sp>
    </p:spTree>
    <p:extLst>
      <p:ext uri="{BB962C8B-B14F-4D97-AF65-F5344CB8AC3E}">
        <p14:creationId xmlns:p14="http://schemas.microsoft.com/office/powerpoint/2010/main" val="2749764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9065F61-4230-4B14-8CCD-2D8B9B6503CD}" type="datetimeFigureOut">
              <a:rPr lang="en-US" smtClean="0"/>
              <a:t>4/26/2026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05DDCC8-BA4F-439E-A7B3-BFDC9656643F}" type="slidenum">
              <a:rPr lang="en-US" smtClean="0"/>
              <a:t>‹#›</a:t>
            </a:fld>
            <a:endParaRPr lang="en-US"/>
          </a:p>
        </p:txBody>
      </p:sp>
    </p:spTree>
    <p:extLst>
      <p:ext uri="{BB962C8B-B14F-4D97-AF65-F5344CB8AC3E}">
        <p14:creationId xmlns:p14="http://schemas.microsoft.com/office/powerpoint/2010/main" val="4291681283"/>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39995-F829-C4EA-DD22-89237EB69694}"/>
              </a:ext>
            </a:extLst>
          </p:cNvPr>
          <p:cNvSpPr>
            <a:spLocks noGrp="1"/>
          </p:cNvSpPr>
          <p:nvPr>
            <p:ph type="ctrTitle"/>
          </p:nvPr>
        </p:nvSpPr>
        <p:spPr>
          <a:xfrm>
            <a:off x="1154955" y="1752599"/>
            <a:ext cx="8825658" cy="2135781"/>
          </a:xfrm>
        </p:spPr>
        <p:txBody>
          <a:bodyPr/>
          <a:lstStyle/>
          <a:p>
            <a:pPr algn="ctr"/>
            <a:r>
              <a:rPr lang="en-US" dirty="0"/>
              <a:t>Customer Shopping Behavior Analysis</a:t>
            </a:r>
          </a:p>
        </p:txBody>
      </p:sp>
      <p:sp>
        <p:nvSpPr>
          <p:cNvPr id="3" name="Subtitle 2">
            <a:extLst>
              <a:ext uri="{FF2B5EF4-FFF2-40B4-BE49-F238E27FC236}">
                <a16:creationId xmlns:a16="http://schemas.microsoft.com/office/drawing/2014/main" id="{75EC0823-5F44-FD9A-6A78-4FF895CEEB38}"/>
              </a:ext>
            </a:extLst>
          </p:cNvPr>
          <p:cNvSpPr>
            <a:spLocks noGrp="1"/>
          </p:cNvSpPr>
          <p:nvPr>
            <p:ph type="subTitle" idx="1"/>
          </p:nvPr>
        </p:nvSpPr>
        <p:spPr/>
        <p:txBody>
          <a:bodyPr/>
          <a:lstStyle/>
          <a:p>
            <a:r>
              <a:rPr lang="en-US" b="1" dirty="0">
                <a:solidFill>
                  <a:schemeClr val="bg2"/>
                </a:solidFill>
              </a:rPr>
              <a:t>Prepared by: </a:t>
            </a:r>
            <a:r>
              <a:rPr lang="en-US" dirty="0">
                <a:solidFill>
                  <a:schemeClr val="bg2"/>
                </a:solidFill>
              </a:rPr>
              <a:t>Ayman Mohamed Masoud Soliman</a:t>
            </a:r>
          </a:p>
        </p:txBody>
      </p:sp>
    </p:spTree>
    <p:extLst>
      <p:ext uri="{BB962C8B-B14F-4D97-AF65-F5344CB8AC3E}">
        <p14:creationId xmlns:p14="http://schemas.microsoft.com/office/powerpoint/2010/main" val="2405551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DDB5B-0F56-B0DE-C493-C19D5AB6C2E7}"/>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E7072131-2BD4-9B55-3F60-E708C42121BE}"/>
              </a:ext>
            </a:extLst>
          </p:cNvPr>
          <p:cNvSpPr>
            <a:spLocks noGrp="1"/>
          </p:cNvSpPr>
          <p:nvPr>
            <p:ph idx="1"/>
          </p:nvPr>
        </p:nvSpPr>
        <p:spPr/>
        <p:txBody>
          <a:bodyPr/>
          <a:lstStyle/>
          <a:p>
            <a:r>
              <a:rPr lang="en-US" b="1" dirty="0"/>
              <a:t>Title:</a:t>
            </a:r>
            <a:r>
              <a:rPr lang="en-US" dirty="0"/>
              <a:t> Customer Shopping Behavior Analysis.</a:t>
            </a:r>
          </a:p>
          <a:p>
            <a:r>
              <a:rPr lang="en-US" b="1" dirty="0"/>
              <a:t>Objective:</a:t>
            </a:r>
            <a:r>
              <a:rPr lang="en-US" dirty="0"/>
              <a:t> Identifying key drivers of revenue and customer loyalty to optimize marketing spend.</a:t>
            </a:r>
          </a:p>
          <a:p>
            <a:r>
              <a:rPr lang="en-US" b="1" dirty="0"/>
              <a:t>The Data:</a:t>
            </a:r>
            <a:r>
              <a:rPr lang="en-US" dirty="0"/>
              <a:t> 5,000+ transactions across 5 categories.</a:t>
            </a:r>
          </a:p>
        </p:txBody>
      </p:sp>
    </p:spTree>
    <p:extLst>
      <p:ext uri="{BB962C8B-B14F-4D97-AF65-F5344CB8AC3E}">
        <p14:creationId xmlns:p14="http://schemas.microsoft.com/office/powerpoint/2010/main" val="1754985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3548-B251-7542-B905-4A26C2CE427A}"/>
              </a:ext>
            </a:extLst>
          </p:cNvPr>
          <p:cNvSpPr>
            <a:spLocks noGrp="1"/>
          </p:cNvSpPr>
          <p:nvPr>
            <p:ph type="title"/>
          </p:nvPr>
        </p:nvSpPr>
        <p:spPr/>
        <p:txBody>
          <a:bodyPr/>
          <a:lstStyle/>
          <a:p>
            <a:r>
              <a:rPr lang="en-US" dirty="0"/>
              <a:t>Overview Dashboard</a:t>
            </a:r>
          </a:p>
        </p:txBody>
      </p:sp>
      <p:sp>
        <p:nvSpPr>
          <p:cNvPr id="7" name="Content Placeholder 6">
            <a:extLst>
              <a:ext uri="{FF2B5EF4-FFF2-40B4-BE49-F238E27FC236}">
                <a16:creationId xmlns:a16="http://schemas.microsoft.com/office/drawing/2014/main" id="{D1974982-F029-E54C-615E-2F76C0744142}"/>
              </a:ext>
            </a:extLst>
          </p:cNvPr>
          <p:cNvSpPr>
            <a:spLocks noGrp="1"/>
          </p:cNvSpPr>
          <p:nvPr>
            <p:ph idx="1"/>
          </p:nvPr>
        </p:nvSpPr>
        <p:spPr>
          <a:xfrm>
            <a:off x="838200" y="2336797"/>
            <a:ext cx="5748867" cy="3840165"/>
          </a:xfrm>
        </p:spPr>
        <p:txBody>
          <a:bodyPr>
            <a:normAutofit fontScale="70000" lnSpcReduction="20000"/>
          </a:bodyPr>
          <a:lstStyle/>
          <a:p>
            <a:pPr marL="0" indent="0">
              <a:buNone/>
            </a:pPr>
            <a:r>
              <a:rPr lang="en-US" sz="1600" dirty="0"/>
              <a:t>This dashboard provides a high-level overview of the commercial performance, showing a total revenue of </a:t>
            </a:r>
            <a:r>
              <a:rPr lang="en-US" sz="1600" b="1" dirty="0"/>
              <a:t>881.69K</a:t>
            </a:r>
            <a:r>
              <a:rPr lang="en-US" sz="1600" dirty="0"/>
              <a:t>. The Average Order Value (AOV) stands at </a:t>
            </a:r>
            <a:r>
              <a:rPr lang="en-US" sz="1600" b="1" dirty="0"/>
              <a:t>7.42</a:t>
            </a:r>
            <a:r>
              <a:rPr lang="en-US" sz="1600" dirty="0"/>
              <a:t>. This low average spend combined with high total revenue indicates a very high volume of orders </a:t>
            </a:r>
            <a:r>
              <a:rPr lang="en-US" sz="1600" b="1" dirty="0"/>
              <a:t>119K</a:t>
            </a:r>
            <a:r>
              <a:rPr lang="en-US" sz="1600" dirty="0"/>
              <a:t>, reflecting strong and frequent demand for the products.</a:t>
            </a:r>
          </a:p>
          <a:p>
            <a:endParaRPr lang="en-US" sz="1600" dirty="0"/>
          </a:p>
          <a:p>
            <a:pPr marL="0" indent="0">
              <a:buNone/>
            </a:pPr>
            <a:r>
              <a:rPr lang="en-US" sz="1600" b="1" dirty="0"/>
              <a:t>Additionally, a three charts showing the below:</a:t>
            </a:r>
          </a:p>
          <a:p>
            <a:pPr lvl="1"/>
            <a:r>
              <a:rPr lang="en-US" sz="1400" dirty="0"/>
              <a:t>Total orders by review rating:</a:t>
            </a:r>
          </a:p>
          <a:p>
            <a:pPr marL="457200" lvl="1" indent="0">
              <a:buNone/>
            </a:pPr>
            <a:r>
              <a:rPr lang="en-US" sz="1400" dirty="0"/>
              <a:t>This chart illustrates that while the most frequent rating is a 4, the overall average rating is lower at 3.67. This gap suggests a potential risk to customer satisfaction. It highlights the need for a deep-dive investigation to identify the root causes of lower ratings and implement strategies to improve the customer experience.</a:t>
            </a:r>
          </a:p>
          <a:p>
            <a:pPr lvl="1"/>
            <a:r>
              <a:rPr lang="en-US" sz="1400" dirty="0"/>
              <a:t>Revenue by season:</a:t>
            </a:r>
          </a:p>
          <a:p>
            <a:pPr marL="457200" lvl="1" indent="0">
              <a:buNone/>
            </a:pPr>
            <a:r>
              <a:rPr lang="en-US" sz="1400" dirty="0"/>
              <a:t>This chart identifies seasonal performance peaks, allowing to determine which periods require a higher marketing investment. By aligning the promotional spend with high-revenue seasons, this can maximize the Return on Investment (ROI).</a:t>
            </a:r>
          </a:p>
          <a:p>
            <a:pPr lvl="1"/>
            <a:r>
              <a:rPr lang="en-US" sz="1400" dirty="0"/>
              <a:t>Total orders by season:</a:t>
            </a:r>
          </a:p>
          <a:p>
            <a:pPr marL="457200" lvl="1" indent="0">
              <a:buNone/>
            </a:pPr>
            <a:r>
              <a:rPr lang="en-US" sz="1400" dirty="0"/>
              <a:t>This chart illustrates peak purchasing periods, providing insight into seasonal shopping frequency. Identifying these trends is essential for optimizing marketing expenditure and ensuring operational readiness during high-demand seasons.</a:t>
            </a:r>
          </a:p>
          <a:p>
            <a:pPr marL="457200" lvl="1" indent="0">
              <a:buNone/>
            </a:pPr>
            <a:endParaRPr lang="en-US" sz="1200" dirty="0"/>
          </a:p>
        </p:txBody>
      </p:sp>
      <p:pic>
        <p:nvPicPr>
          <p:cNvPr id="9" name="Picture 8">
            <a:extLst>
              <a:ext uri="{FF2B5EF4-FFF2-40B4-BE49-F238E27FC236}">
                <a16:creationId xmlns:a16="http://schemas.microsoft.com/office/drawing/2014/main" id="{6AEA92CD-B1AA-9489-D9A8-B0EC8810D8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7067" y="2336797"/>
            <a:ext cx="5096933" cy="3771900"/>
          </a:xfrm>
          <a:prstGeom prst="rect">
            <a:avLst/>
          </a:prstGeom>
        </p:spPr>
      </p:pic>
    </p:spTree>
    <p:extLst>
      <p:ext uri="{BB962C8B-B14F-4D97-AF65-F5344CB8AC3E}">
        <p14:creationId xmlns:p14="http://schemas.microsoft.com/office/powerpoint/2010/main" val="166609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42B26-8C40-BCDC-507F-F39CAA4FBBDA}"/>
              </a:ext>
            </a:extLst>
          </p:cNvPr>
          <p:cNvSpPr>
            <a:spLocks noGrp="1"/>
          </p:cNvSpPr>
          <p:nvPr>
            <p:ph type="title"/>
          </p:nvPr>
        </p:nvSpPr>
        <p:spPr/>
        <p:txBody>
          <a:bodyPr/>
          <a:lstStyle/>
          <a:p>
            <a:r>
              <a:rPr lang="en-US" dirty="0"/>
              <a:t>Sales Performance Dashboard</a:t>
            </a:r>
          </a:p>
        </p:txBody>
      </p:sp>
      <p:sp>
        <p:nvSpPr>
          <p:cNvPr id="3" name="Content Placeholder 2">
            <a:extLst>
              <a:ext uri="{FF2B5EF4-FFF2-40B4-BE49-F238E27FC236}">
                <a16:creationId xmlns:a16="http://schemas.microsoft.com/office/drawing/2014/main" id="{2A98F542-1E38-DABB-70C1-2B864C80CCFD}"/>
              </a:ext>
            </a:extLst>
          </p:cNvPr>
          <p:cNvSpPr>
            <a:spLocks noGrp="1"/>
          </p:cNvSpPr>
          <p:nvPr>
            <p:ph idx="1"/>
          </p:nvPr>
        </p:nvSpPr>
        <p:spPr>
          <a:xfrm>
            <a:off x="838201" y="2421467"/>
            <a:ext cx="5359400" cy="3755496"/>
          </a:xfrm>
        </p:spPr>
        <p:txBody>
          <a:bodyPr>
            <a:normAutofit/>
          </a:bodyPr>
          <a:lstStyle/>
          <a:p>
            <a:r>
              <a:rPr lang="en-US" sz="1600" b="1" dirty="0"/>
              <a:t>The dashboard focuses on presenting the below:</a:t>
            </a:r>
          </a:p>
          <a:p>
            <a:pPr lvl="1"/>
            <a:r>
              <a:rPr lang="en-US" sz="1200" dirty="0"/>
              <a:t>Revenue and orders per location: </a:t>
            </a:r>
          </a:p>
          <a:p>
            <a:pPr marL="457200" lvl="1" indent="0">
              <a:buNone/>
            </a:pPr>
            <a:r>
              <a:rPr lang="en-US" sz="1200" dirty="0"/>
              <a:t>This analysis identifies regional demand by tracking revenue and order volume per state, enabling to allocate resources to high-growth locations.</a:t>
            </a:r>
          </a:p>
          <a:p>
            <a:pPr lvl="1"/>
            <a:r>
              <a:rPr lang="en-US" sz="1200" dirty="0"/>
              <a:t>AOV by category:</a:t>
            </a:r>
          </a:p>
          <a:p>
            <a:pPr marL="457200" lvl="1" indent="0">
              <a:buNone/>
            </a:pPr>
            <a:r>
              <a:rPr lang="en-US" sz="1200" dirty="0"/>
              <a:t>This chart displays which categories command the highest average transaction value. This helps identify our premium product lines and understand which categories are the primary drivers of our total revenue.</a:t>
            </a:r>
          </a:p>
          <a:p>
            <a:pPr lvl="1"/>
            <a:r>
              <a:rPr lang="en-US" sz="1200" dirty="0"/>
              <a:t>Revenue by category:</a:t>
            </a:r>
          </a:p>
          <a:p>
            <a:pPr marL="457200" lvl="1" indent="0">
              <a:buNone/>
            </a:pPr>
            <a:r>
              <a:rPr lang="en-US" sz="1200" dirty="0"/>
              <a:t>This chart highlights which categories are the primary drivers of the total sales. Identifying the top-performing categories is crucial for informed inventory planning and targeted marketing campaigns.</a:t>
            </a:r>
          </a:p>
        </p:txBody>
      </p:sp>
      <p:pic>
        <p:nvPicPr>
          <p:cNvPr id="5" name="Picture 4">
            <a:extLst>
              <a:ext uri="{FF2B5EF4-FFF2-40B4-BE49-F238E27FC236}">
                <a16:creationId xmlns:a16="http://schemas.microsoft.com/office/drawing/2014/main" id="{08C31C39-6BE6-EDC8-E5FB-C2D1137132C4}"/>
              </a:ext>
            </a:extLst>
          </p:cNvPr>
          <p:cNvPicPr>
            <a:picLocks noChangeAspect="1"/>
          </p:cNvPicPr>
          <p:nvPr/>
        </p:nvPicPr>
        <p:blipFill>
          <a:blip r:embed="rId2"/>
          <a:stretch>
            <a:fillRect/>
          </a:stretch>
        </p:blipFill>
        <p:spPr>
          <a:xfrm>
            <a:off x="6197601" y="2421467"/>
            <a:ext cx="5469466" cy="3755496"/>
          </a:xfrm>
          <a:prstGeom prst="rect">
            <a:avLst/>
          </a:prstGeom>
        </p:spPr>
      </p:pic>
    </p:spTree>
    <p:extLst>
      <p:ext uri="{BB962C8B-B14F-4D97-AF65-F5344CB8AC3E}">
        <p14:creationId xmlns:p14="http://schemas.microsoft.com/office/powerpoint/2010/main" val="337489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9D1EB-89AA-C547-6585-92967D00F54C}"/>
              </a:ext>
            </a:extLst>
          </p:cNvPr>
          <p:cNvSpPr>
            <a:spLocks noGrp="1"/>
          </p:cNvSpPr>
          <p:nvPr>
            <p:ph type="title"/>
          </p:nvPr>
        </p:nvSpPr>
        <p:spPr/>
        <p:txBody>
          <a:bodyPr/>
          <a:lstStyle/>
          <a:p>
            <a:r>
              <a:rPr lang="en-US" dirty="0"/>
              <a:t>Customer insight dashboard</a:t>
            </a:r>
          </a:p>
        </p:txBody>
      </p:sp>
      <p:sp>
        <p:nvSpPr>
          <p:cNvPr id="3" name="Content Placeholder 2">
            <a:extLst>
              <a:ext uri="{FF2B5EF4-FFF2-40B4-BE49-F238E27FC236}">
                <a16:creationId xmlns:a16="http://schemas.microsoft.com/office/drawing/2014/main" id="{DBAAA7F2-4523-66B0-A977-20F54FC08550}"/>
              </a:ext>
            </a:extLst>
          </p:cNvPr>
          <p:cNvSpPr>
            <a:spLocks noGrp="1"/>
          </p:cNvSpPr>
          <p:nvPr>
            <p:ph idx="1"/>
          </p:nvPr>
        </p:nvSpPr>
        <p:spPr>
          <a:xfrm>
            <a:off x="1154955" y="2603500"/>
            <a:ext cx="4941046" cy="3416300"/>
          </a:xfrm>
        </p:spPr>
        <p:txBody>
          <a:bodyPr>
            <a:normAutofit/>
          </a:bodyPr>
          <a:lstStyle/>
          <a:p>
            <a:r>
              <a:rPr lang="en-US" sz="1600" dirty="0"/>
              <a:t>his dashboard evaluates the customer base by correlating revenue and order volume with key demographics and behavioral traits including age, gender, and location, as well as logistical preferences like shipping and payment methods. </a:t>
            </a:r>
          </a:p>
          <a:p>
            <a:r>
              <a:rPr lang="en-US" sz="1600" dirty="0"/>
              <a:t>This multidimensional view provides deep insights into customer intimacy and allows to pinpoint the top 10 high-demand regions.</a:t>
            </a:r>
          </a:p>
        </p:txBody>
      </p:sp>
      <p:pic>
        <p:nvPicPr>
          <p:cNvPr id="5" name="Picture 4">
            <a:extLst>
              <a:ext uri="{FF2B5EF4-FFF2-40B4-BE49-F238E27FC236}">
                <a16:creationId xmlns:a16="http://schemas.microsoft.com/office/drawing/2014/main" id="{0AADBB03-05BF-B8AB-72C8-56F253135CD5}"/>
              </a:ext>
            </a:extLst>
          </p:cNvPr>
          <p:cNvPicPr>
            <a:picLocks noChangeAspect="1"/>
          </p:cNvPicPr>
          <p:nvPr/>
        </p:nvPicPr>
        <p:blipFill>
          <a:blip r:embed="rId2"/>
          <a:stretch>
            <a:fillRect/>
          </a:stretch>
        </p:blipFill>
        <p:spPr>
          <a:xfrm>
            <a:off x="6096000" y="2603499"/>
            <a:ext cx="5545667" cy="3687233"/>
          </a:xfrm>
          <a:prstGeom prst="rect">
            <a:avLst/>
          </a:prstGeom>
        </p:spPr>
      </p:pic>
    </p:spTree>
    <p:extLst>
      <p:ext uri="{BB962C8B-B14F-4D97-AF65-F5344CB8AC3E}">
        <p14:creationId xmlns:p14="http://schemas.microsoft.com/office/powerpoint/2010/main" val="1621144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C1D2-F695-77DD-ADD4-D2E8DA0501EB}"/>
              </a:ext>
            </a:extLst>
          </p:cNvPr>
          <p:cNvSpPr>
            <a:spLocks noGrp="1"/>
          </p:cNvSpPr>
          <p:nvPr>
            <p:ph type="title"/>
          </p:nvPr>
        </p:nvSpPr>
        <p:spPr/>
        <p:txBody>
          <a:bodyPr/>
          <a:lstStyle/>
          <a:p>
            <a:r>
              <a:rPr lang="en-US" dirty="0"/>
              <a:t>Product and Inventory</a:t>
            </a:r>
          </a:p>
        </p:txBody>
      </p:sp>
      <p:sp>
        <p:nvSpPr>
          <p:cNvPr id="3" name="Content Placeholder 2">
            <a:extLst>
              <a:ext uri="{FF2B5EF4-FFF2-40B4-BE49-F238E27FC236}">
                <a16:creationId xmlns:a16="http://schemas.microsoft.com/office/drawing/2014/main" id="{B7B75AB5-162F-FD69-90DF-876716CD18DF}"/>
              </a:ext>
            </a:extLst>
          </p:cNvPr>
          <p:cNvSpPr>
            <a:spLocks noGrp="1"/>
          </p:cNvSpPr>
          <p:nvPr>
            <p:ph idx="1"/>
          </p:nvPr>
        </p:nvSpPr>
        <p:spPr>
          <a:xfrm>
            <a:off x="1154955" y="2603500"/>
            <a:ext cx="4941046" cy="3416300"/>
          </a:xfrm>
        </p:spPr>
        <p:txBody>
          <a:bodyPr>
            <a:normAutofit/>
          </a:bodyPr>
          <a:lstStyle/>
          <a:p>
            <a:r>
              <a:rPr lang="en-US" sz="1600" dirty="0"/>
              <a:t>Product Performance &amp; Promotion Analysis: This dashboard provides a look at the product catalog by analyzing revenue and order volume per item. It specifically evaluates the impact of discounts on total sales and cross-references review ratings with product categories. </a:t>
            </a:r>
          </a:p>
          <a:p>
            <a:r>
              <a:rPr lang="en-US" sz="1600" dirty="0"/>
              <a:t>These insights allow to measure product-specific profitability, determine the effectiveness of the promotional strategies, and gauge overall customer satisfaction.</a:t>
            </a:r>
          </a:p>
        </p:txBody>
      </p:sp>
      <p:pic>
        <p:nvPicPr>
          <p:cNvPr id="5" name="Picture 4">
            <a:extLst>
              <a:ext uri="{FF2B5EF4-FFF2-40B4-BE49-F238E27FC236}">
                <a16:creationId xmlns:a16="http://schemas.microsoft.com/office/drawing/2014/main" id="{5EEDFC59-90EF-43ED-B42E-8342121BCDBF}"/>
              </a:ext>
            </a:extLst>
          </p:cNvPr>
          <p:cNvPicPr>
            <a:picLocks noChangeAspect="1"/>
          </p:cNvPicPr>
          <p:nvPr/>
        </p:nvPicPr>
        <p:blipFill>
          <a:blip r:embed="rId2"/>
          <a:stretch>
            <a:fillRect/>
          </a:stretch>
        </p:blipFill>
        <p:spPr>
          <a:xfrm>
            <a:off x="6333067" y="2603500"/>
            <a:ext cx="5359399" cy="3407673"/>
          </a:xfrm>
          <a:prstGeom prst="rect">
            <a:avLst/>
          </a:prstGeom>
        </p:spPr>
      </p:pic>
    </p:spTree>
    <p:extLst>
      <p:ext uri="{BB962C8B-B14F-4D97-AF65-F5344CB8AC3E}">
        <p14:creationId xmlns:p14="http://schemas.microsoft.com/office/powerpoint/2010/main" val="475685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1,408 Thank You Stock Photos - Free &amp; Royalty-Free Stock ...">
            <a:extLst>
              <a:ext uri="{FF2B5EF4-FFF2-40B4-BE49-F238E27FC236}">
                <a16:creationId xmlns:a16="http://schemas.microsoft.com/office/drawing/2014/main" id="{19D16EA9-3B4C-D2EB-5C3D-FFD19458D33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2574"/>
            <a:ext cx="12191999" cy="6880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0280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562</TotalTime>
  <Words>486</Words>
  <Application>Microsoft Office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 Boardroom</vt:lpstr>
      <vt:lpstr>Customer Shopping Behavior Analysis</vt:lpstr>
      <vt:lpstr>Project Overview</vt:lpstr>
      <vt:lpstr>Overview Dashboard</vt:lpstr>
      <vt:lpstr>Sales Performance Dashboard</vt:lpstr>
      <vt:lpstr>Customer insight dashboard</vt:lpstr>
      <vt:lpstr>Product and Inventory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Ayman Masoud</dc:creator>
  <cp:lastModifiedBy>Ayman Masoud</cp:lastModifiedBy>
  <cp:revision>20</cp:revision>
  <dcterms:created xsi:type="dcterms:W3CDTF">2026-04-25T22:23:01Z</dcterms:created>
  <dcterms:modified xsi:type="dcterms:W3CDTF">2026-04-26T08:53:55Z</dcterms:modified>
</cp:coreProperties>
</file>